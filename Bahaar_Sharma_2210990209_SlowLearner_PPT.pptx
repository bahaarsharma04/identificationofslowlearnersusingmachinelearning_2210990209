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  <p:sldMasterId id="2147483674" r:id="rId5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17"/>
    <p:sldId id="262" r:id="rId18"/>
    <p:sldId id="263" r:id="rId1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Slow (27.4%)</c:v>
                </c:pt>
                <c:pt idx="1">
                  <c:v>Not Slow (72.6%)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3832</c:v>
                </c:pt>
                <c:pt idx="1">
                  <c:v>10171</c:v>
                </c:pt>
              </c:numCache>
            </c:numRef>
          </c:val>
          <c:dPt>
            <c:idx val="0"/>
            <c:spPr>
              <a:solidFill>
                <a:srgbClr val="E74C3C"/>
              </a:solidFill>
            </c:spPr>
          </c:dPt>
          <c:dPt>
            <c:idx val="1"/>
            <c:spPr>
              <a:solidFill>
                <a:srgbClr val="27AE60"/>
              </a:solidFill>
            </c:spPr>
          </c:dPt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100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DT</c:v>
                </c:pt>
                <c:pt idx="1">
                  <c:v>RF</c:v>
                </c:pt>
                <c:pt idx="2">
                  <c:v>GB</c:v>
                </c:pt>
                <c:pt idx="3">
                  <c:v>SVM</c:v>
                </c:pt>
                <c:pt idx="4">
                  <c:v>LR</c:v>
                </c:pt>
                <c:pt idx="5">
                  <c:v>KNN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0.999</c:v>
                </c:pt>
                <c:pt idx="5">
                  <c:v>0.914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DT</c:v>
                </c:pt>
                <c:pt idx="1">
                  <c:v>RF</c:v>
                </c:pt>
                <c:pt idx="2">
                  <c:v>GB</c:v>
                </c:pt>
                <c:pt idx="3">
                  <c:v>SVM</c:v>
                </c:pt>
                <c:pt idx="4">
                  <c:v>LR</c:v>
                </c:pt>
                <c:pt idx="5">
                  <c:v>KNN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0.998</c:v>
                </c:pt>
                <c:pt idx="5">
                  <c:v>0.833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MCC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DT</c:v>
                </c:pt>
                <c:pt idx="1">
                  <c:v>RF</c:v>
                </c:pt>
                <c:pt idx="2">
                  <c:v>GB</c:v>
                </c:pt>
                <c:pt idx="3">
                  <c:v>SVM</c:v>
                </c:pt>
                <c:pt idx="4">
                  <c:v>LR</c:v>
                </c:pt>
                <c:pt idx="5">
                  <c:v>KNN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0.997</c:v>
                </c:pt>
                <c:pt idx="5">
                  <c:v>0.778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AUC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DT</c:v>
                </c:pt>
                <c:pt idx="1">
                  <c:v>RF</c:v>
                </c:pt>
                <c:pt idx="2">
                  <c:v>GB</c:v>
                </c:pt>
                <c:pt idx="3">
                  <c:v>SVM</c:v>
                </c:pt>
                <c:pt idx="4">
                  <c:v>LR</c:v>
                </c:pt>
                <c:pt idx="5">
                  <c:v>KNN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0.964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1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5"/>
          <c:min val="0.7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ExamScore</c:v>
                </c:pt>
                <c:pt idx="1">
                  <c:v>Assignment</c:v>
                </c:pt>
                <c:pt idx="2">
                  <c:v>Resources</c:v>
                </c:pt>
                <c:pt idx="3">
                  <c:v>StudyHours</c:v>
                </c:pt>
                <c:pt idx="4">
                  <c:v>Attendance</c:v>
                </c:pt>
                <c:pt idx="5">
                  <c:v>Motivation</c:v>
                </c:pt>
                <c:pt idx="6">
                  <c:v>StressLevel</c:v>
                </c:pt>
                <c:pt idx="7">
                  <c:v>Discussions</c:v>
                </c:pt>
                <c:pt idx="8">
                  <c:v>OnlineCourses</c:v>
                </c:pt>
                <c:pt idx="9">
                  <c:v>Extracurricular</c:v>
                </c:pt>
                <c:pt idx="10">
                  <c:v>Internet</c:v>
                </c:pt>
                <c:pt idx="11">
                  <c:v>EduTech</c:v>
                </c:pt>
                <c:pt idx="12">
                  <c:v>LearningStyle</c:v>
                </c:pt>
                <c:pt idx="13">
                  <c:v>Age</c:v>
                </c:pt>
                <c:pt idx="14">
                  <c:v>Gender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0.38</c:v>
                </c:pt>
                <c:pt idx="1">
                  <c:v>0.21</c:v>
                </c:pt>
                <c:pt idx="2">
                  <c:v>0.04</c:v>
                </c:pt>
                <c:pt idx="3">
                  <c:v>0.03</c:v>
                </c:pt>
                <c:pt idx="4">
                  <c:v>0.02</c:v>
                </c:pt>
                <c:pt idx="5">
                  <c:v>0.02</c:v>
                </c:pt>
                <c:pt idx="6">
                  <c:v>0.01</c:v>
                </c:pt>
                <c:pt idx="7">
                  <c:v>0.01</c:v>
                </c:pt>
                <c:pt idx="8">
                  <c:v>0.01</c:v>
                </c:pt>
                <c:pt idx="9">
                  <c:v>0.005</c:v>
                </c:pt>
                <c:pt idx="10">
                  <c:v>0.005</c:v>
                </c:pt>
                <c:pt idx="11">
                  <c:v>0.004</c:v>
                </c:pt>
                <c:pt idx="12">
                  <c:v>0.003</c:v>
                </c:pt>
                <c:pt idx="13">
                  <c:v>0.002</c:v>
                </c:pt>
                <c:pt idx="14">
                  <c:v>0.001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All 15
Columns</c:v>
                </c:pt>
                <c:pt idx="1">
                  <c:v>Drop Exam
+ Homework</c:v>
                </c:pt>
                <c:pt idx="2">
                  <c:v>Drop
Behavioral</c:v>
                </c:pt>
                <c:pt idx="3">
                  <c:v>Drop
Demographics</c:v>
                </c:pt>
                <c:pt idx="4">
                  <c:v>Drop Tech
Columns</c:v>
                </c:pt>
                <c:pt idx="5">
                  <c:v>Exam +
Homework Only</c:v>
                </c:pt>
                <c:pt idx="6">
                  <c:v>SHAP Top 5
Only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</c:v>
                </c:pt>
                <c:pt idx="1">
                  <c:v>0.823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</c:numCache>
            </c:numRef>
          </c:val>
          <c:dPt>
            <c:idx val="1"/>
            <c:spPr>
              <a:solidFill>
                <a:srgbClr val="E74C3C"/>
              </a:solidFill>
            </c:spPr>
          </c:dPt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5"/>
          <c:min val="0.7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DDB5-D18D-1374-00F7-A254A9F6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2036B-9DA1-37E6-A576-12F67BADC6F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</p:spPr>
        <p:txBody>
          <a:bodyPr/>
          <a:lstStyle/>
          <a:p>
            <a:pPr>
              <a:lnSpc>
                <a:spcPct val="100000"/>
              </a:lnSpc>
            </a:pPr>
            <a:fld id="{94037556-9E8A-4092-B698-C7B51BCB8D66}" type="datetime1">
              <a:rPr lang="en-US" sz="1200" b="0" strike="noStrike" spc="-1" smtClean="0">
                <a:latin typeface="Times New Roman"/>
              </a:rPr>
              <a:t>12/10/2025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66EA5-0EC7-9480-2156-C28EAD7D33E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</p:spPr>
        <p:txBody>
          <a:bodyPr/>
          <a:lstStyle/>
          <a:p>
            <a:r>
              <a:rPr lang="en-US" spc="-1">
                <a:latin typeface="Times New Roman"/>
              </a:rPr>
              <a:t>CO-OP project at Industry (Module-1)/22CS411</a:t>
            </a:r>
            <a:endParaRPr lang="en-GB" sz="1200" spc="-1" dirty="0">
              <a:latin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BDB50-CE80-19E7-5B74-8A9B3ADBFE6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 smtClean="0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8773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DDB5-D18D-1374-00F7-A254A9F6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2036B-9DA1-37E6-A576-12F67BADC6F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037556-9E8A-4092-B698-C7B51BCB8D66}" type="datetime1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12/10/2025</a:t>
            </a:fld>
            <a:endParaRPr kumimoji="0" lang="en-GB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66EA5-0EC7-9480-2156-C28EAD7D33E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t>CO-OP project at Industry (Module-1)/22CS411</a:t>
            </a:r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BDB50-CE80-19E7-5B74-8A9B3ADBFE6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DC92E-FF5D-4613-8499-B15BC16E50D9}" type="slidenum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MS P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4902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2.xml"/><Relationship Id="rId3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3D964FCB-4B12-48F3-8EC8-4E7C43142726}" type="datetime1">
              <a:rPr lang="en-US" sz="1200" b="0" strike="noStrike" spc="-1" smtClean="0">
                <a:latin typeface="Times New Roman"/>
              </a:rPr>
              <a:t>12/10/2025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00"/>
            </a:lvl1pPr>
          </a:lstStyle>
          <a:p>
            <a:r>
              <a:rPr lang="en-US" spc="-1" dirty="0">
                <a:latin typeface="Times New Roman"/>
              </a:rPr>
              <a:t>CO-OP project at Industry (Module-1)/22CS411</a:t>
            </a:r>
            <a:endParaRPr lang="en-GB" sz="1200" spc="-1" dirty="0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49" r:id="rId2"/>
    <p:sldLayoutId id="2147483650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2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3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3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64FCB-4B12-48F3-8EC8-4E7C43142726}" type="datetime1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12/10/2025</a:t>
            </a:fld>
            <a:endParaRPr kumimoji="0" lang="en-GB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t>CO-OP project at Industry (Module-1)/22CS411</a:t>
            </a:r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DC92E-FF5D-4613-8499-B15BC16E50D9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MS P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526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002B5C"/>
                </a:solidFill>
                <a:latin typeface="Times New Roman"/>
              </a:defRPr>
            </a:pPr>
            <a:r>
              <a:t>Project Presentation of Co-Op Project at Industry (Module-1)</a:t>
            </a:r>
          </a:p>
          <a:p>
            <a:pPr algn="ctr">
              <a:spcBef>
                <a:spcPts val="800"/>
              </a:spcBef>
              <a:spcAft>
                <a:spcPts val="3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On</a:t>
            </a:r>
          </a:p>
          <a:p>
            <a:pPr algn="ctr">
              <a:spcBef>
                <a:spcPts val="1200"/>
              </a:spcBef>
              <a:spcAft>
                <a:spcPts val="1200"/>
              </a:spcAft>
              <a:defRPr sz="2800" b="1">
                <a:solidFill>
                  <a:srgbClr val="002B5C"/>
                </a:solidFill>
                <a:latin typeface="Times New Roman"/>
              </a:defRPr>
            </a:pPr>
            <a:r>
              <a:t>Identification of Slow Learners Using Machine Learning:</a:t>
            </a:r>
            <a:br/>
            <a:r>
              <a:t>A Comparative Analysis of Classification Algorithms</a:t>
            </a:r>
          </a:p>
          <a:p>
            <a:pPr algn="ctr">
              <a:spcBef>
                <a:spcPts val="800"/>
              </a:spcBef>
              <a:spcAft>
                <a:spcPts val="3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Bahaar Sharma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2210990209</a:t>
            </a:r>
          </a:p>
          <a:p>
            <a:pPr algn="ctr">
              <a:spcBef>
                <a:spcPts val="1200"/>
              </a:spcBef>
              <a:spcAft>
                <a:spcPts val="3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Supervised By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000000"/>
                </a:solidFill>
                <a:latin typeface="Times New Roman"/>
              </a:defRPr>
            </a:pPr>
            <a:r>
              <a:t>Dr. Gurpreet Singh, Department of CSE, Chitkara University</a:t>
            </a:r>
          </a:p>
          <a:p>
            <a:pPr algn="ctr">
              <a:spcBef>
                <a:spcPts val="1600"/>
              </a:spcBef>
              <a:spcAft>
                <a:spcPts val="300"/>
              </a:spcAft>
              <a:defRPr sz="1800" b="1">
                <a:solidFill>
                  <a:srgbClr val="002B5C"/>
                </a:solidFill>
                <a:latin typeface="Times New Roman"/>
              </a:defRPr>
            </a:pPr>
            <a:r>
              <a:t>Department of Computer Science and Engineering,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  <a:defRPr sz="1800" b="0">
                <a:solidFill>
                  <a:srgbClr val="002B5C"/>
                </a:solidFill>
                <a:latin typeface="Times New Roman"/>
              </a:defRPr>
            </a:pPr>
            <a:r>
              <a:t>Chitkara University, Punjab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  <a:latin typeface="Times New Roman"/>
              </a:defRPr>
            </a:pPr>
            <a:r>
              <a:t>Introduction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008" y="950000"/>
            <a:ext cx="883872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0000"/>
                </a:solidFill>
                <a:latin typeface="Times New Roman"/>
              </a:defRPr>
            </a:pPr>
            <a:r>
              <a:t>Background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• Students struggle silently — data exists in gradebooks and LMS logs, but nobody looks until it's too late.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• Instructors managing hundreds of students cannot manually track individual performance trends.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• Existing research predicts GPA brackets, not the binary question counselors face: does this student need help?</a:t>
            </a:r>
          </a:p>
          <a:p>
            <a:pPr algn="l">
              <a:spcBef>
                <a:spcPts val="1400"/>
              </a:spcBef>
              <a:spcAft>
                <a:spcPts val="300"/>
              </a:spcAft>
              <a:defRPr sz="1800" b="1">
                <a:solidFill>
                  <a:srgbClr val="C00000"/>
                </a:solidFill>
                <a:latin typeface="Times New Roman"/>
              </a:defRPr>
            </a:pPr>
            <a:r>
              <a:t>Objective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• Build a reliable, explainable early-warning system to identify slow learners using routine academic data.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• Compare 6 ML classifiers across 4 algorithmic families with rigorous evaluation.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• Use SHAP explanations to make predictions transparent and actionable for teachers.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• Determine the minimum data needed via ablation study.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  <a:latin typeface="Times New Roman"/>
              </a:defRPr>
            </a:pPr>
            <a:r>
              <a:t>Dataset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008" y="900000"/>
            <a:ext cx="44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Dataset: Kaggle Student Performance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• 14,003 student records, 16 columns, no missing values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• Binary label: Slow Learner (27.4%) vs Not Slow (72.6%)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• 80/20 stratified split, StandardScaler on training data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• Features: Academic, Behavioral, Psychological, Demographic, Technology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800000" y="850000"/>
          <a:ext cx="4000000" cy="27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74320" y="3657600"/>
            <a:ext cx="1325880" cy="59436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Times New Roman"/>
              </a:defRPr>
            </a:pPr>
            <a:r>
              <a:t>Raw Data</a:t>
            </a:r>
            <a:br/>
            <a:r>
              <a:t>(14,003)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655064" y="3863340"/>
            <a:ext cx="274320" cy="182880"/>
          </a:xfrm>
          <a:prstGeom prst="rightArrow">
            <a:avLst/>
          </a:prstGeom>
          <a:solidFill>
            <a:srgbClr val="002B5C"/>
          </a:solidFill>
          <a:ln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03704" y="3657600"/>
            <a:ext cx="1325880" cy="594360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Times New Roman"/>
              </a:defRPr>
            </a:pPr>
            <a:r>
              <a:t>Preprocess</a:t>
            </a:r>
            <a:br/>
            <a:r>
              <a:t>&amp; Scale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584448" y="3863340"/>
            <a:ext cx="274320" cy="182880"/>
          </a:xfrm>
          <a:prstGeom prst="rightArrow">
            <a:avLst/>
          </a:prstGeom>
          <a:solidFill>
            <a:srgbClr val="002B5C"/>
          </a:solidFill>
          <a:ln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33088" y="3657600"/>
            <a:ext cx="1325880" cy="594360"/>
          </a:xfrm>
          <a:prstGeom prst="round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Times New Roman"/>
              </a:defRPr>
            </a:pPr>
            <a:r>
              <a:t>Binary Label</a:t>
            </a:r>
            <a:br/>
            <a:r>
              <a:t>Creation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513832" y="3863340"/>
            <a:ext cx="274320" cy="182880"/>
          </a:xfrm>
          <a:prstGeom prst="rightArrow">
            <a:avLst/>
          </a:prstGeom>
          <a:solidFill>
            <a:srgbClr val="002B5C"/>
          </a:solidFill>
          <a:ln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62472" y="3657600"/>
            <a:ext cx="1325880" cy="59436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Times New Roman"/>
              </a:defRPr>
            </a:pPr>
            <a:r>
              <a:t>6 Classifiers</a:t>
            </a:r>
            <a:br/>
            <a:r>
              <a:t>(Grid Search)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443216" y="3863340"/>
            <a:ext cx="274320" cy="182880"/>
          </a:xfrm>
          <a:prstGeom prst="rightArrow">
            <a:avLst/>
          </a:prstGeom>
          <a:solidFill>
            <a:srgbClr val="002B5C"/>
          </a:solidFill>
          <a:ln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91856" y="3657600"/>
            <a:ext cx="1325880" cy="594360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Times New Roman"/>
              </a:defRPr>
            </a:pPr>
            <a:r>
              <a:t>SHAP</a:t>
            </a:r>
            <a:br/>
            <a:r>
              <a:t>Explain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372600" y="3863340"/>
            <a:ext cx="274320" cy="182880"/>
          </a:xfrm>
          <a:prstGeom prst="rightArrow">
            <a:avLst/>
          </a:prstGeom>
          <a:solidFill>
            <a:srgbClr val="002B5C"/>
          </a:solidFill>
          <a:ln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21240" y="3657600"/>
            <a:ext cx="1325880" cy="5943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Times New Roman"/>
              </a:defRPr>
            </a:pPr>
            <a:r>
              <a:t>Intervention</a:t>
            </a:r>
            <a:br/>
            <a:r>
              <a:t>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008" y="4572000"/>
            <a:ext cx="883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B5C"/>
                </a:solidFill>
                <a:latin typeface="Times New Roman"/>
              </a:defRPr>
            </a:pPr>
            <a:r>
              <a:t>Models: Logistic Regression  |  Decision Tree  |  Random Forest (tuned)  |  SVM (tuned)  |  KNN  |  Gradient Boosting (tuned)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  <a:latin typeface="Times New Roman"/>
              </a:defRPr>
            </a:pPr>
            <a:r>
              <a:t>Key Findings: 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Times New Roman"/>
              </a:defRPr>
            </a:pPr>
            <a:r>
              <a:t>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005840"/>
          <a:ext cx="53035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60720" y="10972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Key Takeaways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27AE60"/>
                </a:solidFill>
                <a:latin typeface="Times New Roman"/>
              </a:defRPr>
            </a:pPr>
            <a:r>
              <a:t>✓ 4 models achieved perfect scores (DT, RF, SVM, GB)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0000"/>
                </a:solidFill>
                <a:latin typeface="Times New Roman"/>
              </a:defRPr>
            </a:pPr>
            <a:r>
              <a:t>✓ LR missed only 3 of 766 slow learners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E74C3C"/>
                </a:solidFill>
                <a:latin typeface="Times New Roman"/>
              </a:defRPr>
            </a:pPr>
            <a:r>
              <a:t>✗ KNN weakest at 91.4% — treats all features equally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600" b="0">
                <a:solidFill>
                  <a:srgbClr val="000000"/>
                </a:solidFill>
                <a:latin typeface="Times New Roman"/>
              </a:defRPr>
            </a:pPr>
          </a:p>
          <a:p>
            <a:pPr algn="l">
              <a:spcBef>
                <a:spcPts val="800"/>
              </a:spcBef>
              <a:spcAft>
                <a:spcPts val="300"/>
              </a:spcAft>
              <a:defRPr sz="1400" b="1">
                <a:solidFill>
                  <a:srgbClr val="C00000"/>
                </a:solidFill>
                <a:latin typeface="Times New Roman"/>
              </a:defRPr>
            </a:pPr>
            <a:r>
              <a:t>Statistical Tests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E74C3C"/>
                </a:solidFill>
                <a:latin typeface="Times New Roman"/>
              </a:defRPr>
            </a:pPr>
            <a:r>
              <a:t>• McNemar RF vs KNN: χ²=239, p&lt;0.001 (significant)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0000"/>
                </a:solidFill>
                <a:latin typeface="Times New Roman"/>
              </a:defRPr>
            </a:pPr>
            <a:r>
              <a:t>• RF vs LR: p=0.248 (not significant — tied)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27AE60"/>
                </a:solidFill>
                <a:latin typeface="Times New Roman"/>
              </a:defRPr>
            </a:pPr>
            <a:r>
              <a:t>• RF vs DT/SVM/GB: identical predictions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600" b="0">
                <a:solidFill>
                  <a:srgbClr val="000000"/>
                </a:solidFill>
                <a:latin typeface="Times New Roman"/>
              </a:defRPr>
            </a:pPr>
          </a:p>
          <a:p>
            <a:pPr algn="l">
              <a:spcBef>
                <a:spcPts val="800"/>
              </a:spcBef>
              <a:spcAft>
                <a:spcPts val="300"/>
              </a:spcAft>
              <a:defRPr sz="1400" b="1">
                <a:solidFill>
                  <a:srgbClr val="C00000"/>
                </a:solidFill>
                <a:latin typeface="Times New Roman"/>
              </a:defRPr>
            </a:pPr>
            <a:r>
              <a:t>Training Speed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0000"/>
                </a:solidFill>
                <a:latin typeface="Times New Roman"/>
              </a:defRPr>
            </a:pPr>
            <a:r>
              <a:t>• DT: 4ms  vs  SVM: 3.5s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002B5C"/>
                </a:solidFill>
                <a:latin typeface="Times New Roman"/>
              </a:defRPr>
            </a:pPr>
            <a:r>
              <a:t>• 1000x faster, same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  <a:latin typeface="Times New Roman"/>
              </a:defRPr>
            </a:pPr>
            <a:r>
              <a:t>SHAP Analysis &amp; Feature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Times New Roman"/>
              </a:defRPr>
            </a:pPr>
            <a: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82880" y="914400"/>
          <a:ext cx="48463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12080" y="100584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What SHAP Reveals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0000"/>
                </a:solidFill>
                <a:latin typeface="Times New Roman"/>
              </a:defRPr>
            </a:pPr>
            <a:r>
              <a:t>• ExamScore is the dominant predictor — low scores strongly push toward 'slow learner'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0000"/>
                </a:solidFill>
                <a:latin typeface="Times New Roman"/>
              </a:defRPr>
            </a:pPr>
            <a:r>
              <a:t>• AssignmentCompletion is the 2nd strongest signal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27AE60"/>
                </a:solidFill>
                <a:latin typeface="Times New Roman"/>
              </a:defRPr>
            </a:pPr>
            <a:r>
              <a:t>• Demographics (Gender, Age) → near-zero contribution — model is fair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0000"/>
                </a:solidFill>
                <a:latin typeface="Times New Roman"/>
              </a:defRPr>
            </a:pPr>
            <a:r>
              <a:t>• Stress, motivation, tech access → essentially noise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000000"/>
                </a:solidFill>
                <a:latin typeface="Times New Roman"/>
              </a:defRPr>
            </a:pPr>
          </a:p>
          <a:p>
            <a:pPr algn="l">
              <a:spcBef>
                <a:spcPts val="1000"/>
              </a:spcBef>
              <a:spcAft>
                <a:spcPts val="300"/>
              </a:spcAft>
              <a:defRPr sz="1400" b="1">
                <a:solidFill>
                  <a:srgbClr val="C00000"/>
                </a:solidFill>
                <a:latin typeface="Times New Roman"/>
              </a:defRPr>
            </a:pPr>
            <a:r>
              <a:t>Example: Student Ravi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0000"/>
                </a:solidFill>
                <a:latin typeface="Times New Roman"/>
              </a:defRPr>
            </a:pPr>
            <a:r>
              <a:t>• Exam avg = 44/100 → SHAP +0.38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0000"/>
                </a:solidFill>
                <a:latin typeface="Times New Roman"/>
              </a:defRPr>
            </a:pPr>
            <a:r>
              <a:t>• Homework = 58% → SHAP +0.21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002B5C"/>
                </a:solidFill>
                <a:latin typeface="Times New Roman"/>
              </a:defRPr>
            </a:pPr>
            <a:r>
              <a:t>• Counselor insight: content-understanding problem, not attendance or motivation issue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Times New Roman"/>
              </a:defRPr>
            </a:pPr>
            <a:r>
              <a:t>Ablation Study: What Data Do You Really Need?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Times New Roman"/>
              </a:defRPr>
            </a:pPr>
            <a: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00584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0" y="1097280"/>
            <a:ext cx="2926080" cy="2560320"/>
          </a:xfrm>
          <a:prstGeom prst="roundRect">
            <a:avLst/>
          </a:prstGeom>
          <a:solidFill>
            <a:srgbClr val="EBF5F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Key Finding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002B5C"/>
                </a:solidFill>
                <a:latin typeface="Times New Roman"/>
              </a:defRPr>
            </a:pPr>
            <a:r>
              <a:t>Just 2 columns achieve the SAME perfect result as all 15!</a:t>
            </a:r>
          </a:p>
          <a:p>
            <a:pPr algn="ctr"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1ABC9C"/>
                </a:solidFill>
                <a:latin typeface="Times New Roman"/>
              </a:defRPr>
            </a:pPr>
            <a:r>
              <a:t>ExamScore + AssignmentCompletion</a:t>
            </a:r>
          </a:p>
          <a:p>
            <a:pPr algn="ctr">
              <a:spcBef>
                <a:spcPts val="600"/>
              </a:spcBef>
              <a:spcAft>
                <a:spcPts val="300"/>
              </a:spcAft>
              <a:defRPr sz="1100" b="0">
                <a:solidFill>
                  <a:srgbClr val="E74C3C"/>
                </a:solidFill>
                <a:latin typeface="Times New Roman"/>
              </a:defRPr>
            </a:pPr>
            <a:r>
              <a:t>Removing them is the ONLY thing that drops F1 (to 0.823)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93776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B5C"/>
                </a:solidFill>
                <a:latin typeface="Times New Roman"/>
              </a:defRPr>
            </a:pPr>
            <a:r>
              <a:t>A working early-warning system needs nothing more than the two numbers already in every gradebook.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  <a:latin typeface="Times New Roman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008" y="900000"/>
            <a:ext cx="883872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0000"/>
                </a:solidFill>
                <a:latin typeface="Times New Roman"/>
              </a:defRPr>
            </a:pPr>
            <a:r>
              <a:t>Conclusion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• 4 of 6 classifiers achieved perfect test-set separation on 14,003 student records.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• SHAP identified ExamScore and AssignmentCompletion as the only features that matter.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• Ablation confirmed: just 2 columns replicate the full 15-column pipeline's performance.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• Decision Tree recommended: 4ms training, perfect accuracy, fully interpretable.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• Model is algorithmically fair — Gender and Age have near-zero influence.</a:t>
            </a:r>
          </a:p>
          <a:p>
            <a:pPr algn="l">
              <a:spcBef>
                <a:spcPts val="1400"/>
              </a:spcBef>
              <a:spcAft>
                <a:spcPts val="300"/>
              </a:spcAft>
              <a:defRPr sz="1800" b="1">
                <a:solidFill>
                  <a:srgbClr val="C00000"/>
                </a:solidFill>
                <a:latin typeface="Times New Roman"/>
              </a:defRPr>
            </a:pPr>
            <a:r>
              <a:t>Limitations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• Single dataset source — generalizability to other institutions unknown.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• No missing values — unrealistic for real-world gradebooks.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• Binary framing erases spectrum between 'slightly behind' and 'completely lost'.</a:t>
            </a:r>
          </a:p>
          <a:p>
            <a:pPr algn="l">
              <a:spcBef>
                <a:spcPts val="1400"/>
              </a:spcBef>
              <a:spcAft>
                <a:spcPts val="300"/>
              </a:spcAft>
              <a:defRPr sz="1800" b="1">
                <a:solidFill>
                  <a:srgbClr val="C00000"/>
                </a:solidFill>
                <a:latin typeface="Times New Roman"/>
              </a:defRPr>
            </a:pPr>
            <a:r>
              <a:t>Future Scope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• Temporal prediction — flag students at 25%, 50%, 75% of course completion.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• Multi-institutional validation across diverse universities and curricula.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• Incorporate qualitative signals — teacher notes, peer observations, LMS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55"/>
                </a:solidFill>
                <a:latin typeface="Times New Roman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008" y="900000"/>
            <a:ext cx="883872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Times New Roman"/>
              </a:defRPr>
            </a:pPr>
            <a:r>
              <a:t>[1] S. K. Malik, "Slow learners: Their psychology and educational programmes," Int. J. Educ. Psychol. Res., 2012.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Times New Roman"/>
              </a:defRPr>
            </a:pPr>
            <a:r>
              <a:t>[3] C. Romero &amp; S. Ventura, "EDM and learning analytics: An updated survey," WIREs, 2020.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Times New Roman"/>
              </a:defRPr>
            </a:pPr>
            <a:r>
              <a:t>[5] C. Romero &amp; S. Ventura, "EDM: A review of the state of the art," IEEE Trans., 2010.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Times New Roman"/>
              </a:defRPr>
            </a:pPr>
            <a:r>
              <a:t>[8] M. Hussain et al., "Student engagement predictions in e-learning," Comput. Intell. Neurosci., 2018.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Times New Roman"/>
              </a:defRPr>
            </a:pPr>
            <a:r>
              <a:t>[9] H. Waheed et al., "Predicting academic performance using deep learning," Comput. Hum. Behav., 2020.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Times New Roman"/>
              </a:defRPr>
            </a:pPr>
            <a:r>
              <a:t>[10] P. Kaur et al., "Classification to predict slow learners in education," Procedia CS, 2015.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Times New Roman"/>
              </a:defRPr>
            </a:pPr>
            <a:r>
              <a:t>[12] A. Shamim, "Student performance and learning style dataset," Kaggle, 2024.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Times New Roman"/>
              </a:defRPr>
            </a:pPr>
            <a:r>
              <a:t>[15] M. Adnan et al., "Predicting at-risk students at different course percentages," IEEE Access, 2021.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000000"/>
                </a:solidFill>
                <a:latin typeface="Times New Roman"/>
              </a:defRPr>
            </a:pPr>
            <a:r>
              <a:t>[18] S. M. Lundberg &amp; S.-I. Lee, "A unified approach to interpreting model predictions," NeurIPS, 2017.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577" y="4846320"/>
            <a:ext cx="67055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2B5C"/>
                </a:solidFill>
                <a:latin typeface="Times New Roman"/>
              </a:defRPr>
            </a:pPr>
            <a: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577" y="5486400"/>
            <a:ext cx="6705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Times New Roman"/>
              </a:defRPr>
            </a:pPr>
            <a:r>
              <a:t>Bahaar Sharma  |  2210990209  |  bahaar209.be22@chitkara.edu.in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34793</TotalTime>
  <Words>85</Words>
  <Application>Microsoft Office PowerPoint</Application>
  <PresentationFormat>On-screen Show (4:3)</PresentationFormat>
  <Paragraphs>31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c1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Anshu Singla</cp:lastModifiedBy>
  <cp:revision>2302</cp:revision>
  <dcterms:created xsi:type="dcterms:W3CDTF">2010-04-09T07:36:15Z</dcterms:created>
  <dcterms:modified xsi:type="dcterms:W3CDTF">2025-12-10T07:55:09Z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