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0" type="dt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1" type="ftr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jp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42" name="Google Shape;42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3" name="Google Shape;43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6" name="Google Shape;46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9" name="Google Shape;49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52" name="Google Shape;52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092050"/>
            <a:ext cx="9144000" cy="4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Slow Learners Using Machine Learning:</a:t>
            </a:r>
            <a:b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Comparative Analysis of Classification Algorithms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Bahaar Sharma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2210990209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Gurpreet Singh, Department of CSE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/>
        </p:nvSpPr>
        <p:spPr>
          <a:xfrm>
            <a:off x="190500" y="190500"/>
            <a:ext cx="8763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" name="Google Shape;80;p10"/>
          <p:cNvGrpSpPr/>
          <p:nvPr/>
        </p:nvGrpSpPr>
        <p:grpSpPr>
          <a:xfrm>
            <a:off x="381000" y="1333446"/>
            <a:ext cx="4334100" cy="3613309"/>
            <a:chOff x="381000" y="1333500"/>
            <a:chExt cx="4334100" cy="2857500"/>
          </a:xfrm>
        </p:grpSpPr>
        <p:sp>
          <p:nvSpPr>
            <p:cNvPr id="81" name="Google Shape;81;p10"/>
            <p:cNvSpPr/>
            <p:nvPr/>
          </p:nvSpPr>
          <p:spPr>
            <a:xfrm>
              <a:off x="381000" y="1333500"/>
              <a:ext cx="4048200" cy="2857500"/>
            </a:xfrm>
            <a:prstGeom prst="roundRect">
              <a:avLst>
                <a:gd fmla="val 5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0"/>
            <p:cNvSpPr txBox="1"/>
            <p:nvPr/>
          </p:nvSpPr>
          <p:spPr>
            <a:xfrm>
              <a:off x="571500" y="1523994"/>
              <a:ext cx="4143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Background</a:t>
              </a:r>
              <a:endParaRPr b="1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83;p10"/>
            <p:cNvSpPr txBox="1"/>
            <p:nvPr/>
          </p:nvSpPr>
          <p:spPr>
            <a:xfrm>
              <a:off x="571500" y="2000250"/>
              <a:ext cx="36672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</a:t>
              </a: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tudents struggle silently — data exists in gradebooks and LMS logs, but nobody looks until it's too late.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Instructors managing hundreds of students cannot manually track individual performance trends.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Existing research predicts GPA brackets, not the binary question counselors face: does this student need help?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4" name="Google Shape;84;p10"/>
          <p:cNvGrpSpPr/>
          <p:nvPr/>
        </p:nvGrpSpPr>
        <p:grpSpPr>
          <a:xfrm>
            <a:off x="4714875" y="1333537"/>
            <a:ext cx="4334100" cy="3613423"/>
            <a:chOff x="4714875" y="1333500"/>
            <a:chExt cx="4334100" cy="4381500"/>
          </a:xfrm>
        </p:grpSpPr>
        <p:sp>
          <p:nvSpPr>
            <p:cNvPr id="85" name="Google Shape;85;p10"/>
            <p:cNvSpPr/>
            <p:nvPr/>
          </p:nvSpPr>
          <p:spPr>
            <a:xfrm>
              <a:off x="4714875" y="1333500"/>
              <a:ext cx="4048200" cy="4381500"/>
            </a:xfrm>
            <a:prstGeom prst="roundRect">
              <a:avLst>
                <a:gd fmla="val 3529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4905375" y="1524009"/>
              <a:ext cx="4143600" cy="50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endParaRPr b="1" sz="18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0"/>
            <p:cNvSpPr txBox="1"/>
            <p:nvPr/>
          </p:nvSpPr>
          <p:spPr>
            <a:xfrm>
              <a:off x="4905375" y="2209440"/>
              <a:ext cx="3667200" cy="331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Build a reliable, explainable early-warning system to identify slow learners using routine academic data.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Compare 6 ML classifiers across 4 algorithmic families with rigorous evaluation.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Use SHAP explanations to make predictions transparent and actionable for teachers.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Determine the minimum data needed via ablation study.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" name="Google Shape;88;p10"/>
          <p:cNvSpPr txBox="1"/>
          <p:nvPr/>
        </p:nvSpPr>
        <p:spPr>
          <a:xfrm>
            <a:off x="6769389" y="6592491"/>
            <a:ext cx="21333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/>
        </p:nvSpPr>
        <p:spPr>
          <a:xfrm>
            <a:off x="190500" y="190500"/>
            <a:ext cx="8763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Methodology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190500" y="952500"/>
            <a:ext cx="4286400" cy="16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Kaggle Student Performance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14,003 student records, 16 columns, no missing values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label: Slow Learner (27.4%) vs Not Slow (72.6%)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80/20 stratified split, StandardScaler on training data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Academic, Behavioral, Psychological, Demographic, Technology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1"/>
          <p:cNvPicPr preferRelativeResize="0"/>
          <p:nvPr/>
        </p:nvPicPr>
        <p:blipFill rotWithShape="1">
          <a:blip r:embed="rId4">
            <a:alphaModFix/>
          </a:blip>
          <a:srcRect b="5556" l="0" r="0" t="5556"/>
          <a:stretch/>
        </p:blipFill>
        <p:spPr>
          <a:xfrm>
            <a:off x="4953000" y="952500"/>
            <a:ext cx="3810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/>
          <p:nvPr/>
        </p:nvSpPr>
        <p:spPr>
          <a:xfrm>
            <a:off x="190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(14,003)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6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/>
          <p:nvPr/>
        </p:nvSpPr>
        <p:spPr>
          <a:xfrm>
            <a:off x="1714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2980B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Scale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0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3238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Label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4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4762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8E44A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Classifiers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(Grid Search)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48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/>
          <p:nvPr/>
        </p:nvSpPr>
        <p:spPr>
          <a:xfrm>
            <a:off x="6286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E67E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72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7810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27A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Intervention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190500" y="4690200"/>
            <a:ext cx="8763000" cy="785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875" lIns="142875" spcFirstLastPara="1" rIns="142875" wrap="square" tIns="14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Algorithms Evaluated</a:t>
            </a:r>
            <a:endParaRPr b="1" sz="14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| Decision Tree | Random Forest (tuned) | SVM (tuned) | KNN | Gradient Boosting (tuned)</a:t>
            </a:r>
            <a:endParaRPr b="0" sz="12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285750" y="285750"/>
            <a:ext cx="8572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 Model Performance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4">
            <a:alphaModFix/>
          </a:blip>
          <a:srcRect b="0" l="20" r="10" t="0"/>
          <a:stretch/>
        </p:blipFill>
        <p:spPr>
          <a:xfrm>
            <a:off x="285750" y="1047750"/>
            <a:ext cx="4953000" cy="40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2"/>
          <p:cNvGrpSpPr/>
          <p:nvPr/>
        </p:nvGrpSpPr>
        <p:grpSpPr>
          <a:xfrm>
            <a:off x="5524500" y="1047750"/>
            <a:ext cx="3333900" cy="1428900"/>
            <a:chOff x="5524500" y="1047750"/>
            <a:chExt cx="3333900" cy="1428900"/>
          </a:xfrm>
        </p:grpSpPr>
        <p:sp>
          <p:nvSpPr>
            <p:cNvPr id="117" name="Google Shape;117;p12"/>
            <p:cNvSpPr/>
            <p:nvPr/>
          </p:nvSpPr>
          <p:spPr>
            <a:xfrm>
              <a:off x="5524500" y="1047750"/>
              <a:ext cx="3333900" cy="14289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2"/>
            <p:cNvSpPr txBox="1"/>
            <p:nvPr/>
          </p:nvSpPr>
          <p:spPr>
            <a:xfrm>
              <a:off x="5667375" y="1143000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Takeaways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✓ 4 models achieved perfect scores (DT, RF, SVM, GB)</a:t>
              </a:r>
              <a:endParaRPr b="0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✓ LR missed only 3 of 766 slow learners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74C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KNN weakest at 91.4% — treats all features equally</a:t>
              </a:r>
              <a:endParaRPr b="0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9" name="Google Shape;119;p12"/>
          <p:cNvGrpSpPr/>
          <p:nvPr/>
        </p:nvGrpSpPr>
        <p:grpSpPr>
          <a:xfrm>
            <a:off x="5524500" y="2619375"/>
            <a:ext cx="3333900" cy="1238400"/>
            <a:chOff x="5524500" y="2619375"/>
            <a:chExt cx="3333900" cy="1238400"/>
          </a:xfrm>
        </p:grpSpPr>
        <p:sp>
          <p:nvSpPr>
            <p:cNvPr id="120" name="Google Shape;120;p12"/>
            <p:cNvSpPr/>
            <p:nvPr/>
          </p:nvSpPr>
          <p:spPr>
            <a:xfrm>
              <a:off x="5524500" y="2619375"/>
              <a:ext cx="3333900" cy="1238400"/>
            </a:xfrm>
            <a:prstGeom prst="roundRect">
              <a:avLst>
                <a:gd fmla="val 7692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2"/>
            <p:cNvSpPr txBox="1"/>
            <p:nvPr/>
          </p:nvSpPr>
          <p:spPr>
            <a:xfrm>
              <a:off x="5667375" y="271462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Statistical Tests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74C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McNemar RF vs KNN: χ²=239, p&lt;0.001 (sig.)</a:t>
              </a:r>
              <a:endParaRPr b="0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RF vs LR: p=0.248 (not significant — tied)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RF vs DT/SVM/GB: identical predictions</a:t>
              </a:r>
              <a:endParaRPr b="0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2" name="Google Shape;122;p12"/>
          <p:cNvGrpSpPr/>
          <p:nvPr/>
        </p:nvGrpSpPr>
        <p:grpSpPr>
          <a:xfrm>
            <a:off x="5524500" y="4000500"/>
            <a:ext cx="3333900" cy="1143000"/>
            <a:chOff x="5524500" y="4000500"/>
            <a:chExt cx="3333900" cy="1143000"/>
          </a:xfrm>
        </p:grpSpPr>
        <p:sp>
          <p:nvSpPr>
            <p:cNvPr id="123" name="Google Shape;123;p12"/>
            <p:cNvSpPr/>
            <p:nvPr/>
          </p:nvSpPr>
          <p:spPr>
            <a:xfrm>
              <a:off x="5524500" y="4000500"/>
              <a:ext cx="3333900" cy="1143000"/>
            </a:xfrm>
            <a:prstGeom prst="roundRect">
              <a:avLst>
                <a:gd fmla="val 8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2"/>
            <p:cNvSpPr txBox="1"/>
            <p:nvPr/>
          </p:nvSpPr>
          <p:spPr>
            <a:xfrm>
              <a:off x="5667375" y="409575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Speed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DT: 4ms vs SVM: 3.5s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1000x faster, same accuracy</a:t>
              </a:r>
              <a:endParaRPr b="1" sz="12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5" name="Google Shape;125;p12"/>
          <p:cNvGrpSpPr/>
          <p:nvPr/>
        </p:nvGrpSpPr>
        <p:grpSpPr>
          <a:xfrm>
            <a:off x="285750" y="5334000"/>
            <a:ext cx="8572500" cy="762000"/>
            <a:chOff x="285750" y="5334000"/>
            <a:chExt cx="8572500" cy="762000"/>
          </a:xfrm>
        </p:grpSpPr>
        <p:sp>
          <p:nvSpPr>
            <p:cNvPr id="126" name="Google Shape;126;p12"/>
            <p:cNvSpPr/>
            <p:nvPr/>
          </p:nvSpPr>
          <p:spPr>
            <a:xfrm>
              <a:off x="285750" y="5334000"/>
              <a:ext cx="8572500" cy="762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 txBox="1"/>
            <p:nvPr/>
          </p:nvSpPr>
          <p:spPr>
            <a:xfrm>
              <a:off x="285750" y="533400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Conclusion: Tree-based models (DT, RF, GB) and SVM deliver peak performance, with DT offering a significant speed advantage.</a:t>
              </a:r>
              <a:endParaRPr b="1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285750" y="202600"/>
            <a:ext cx="8572500" cy="44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Analysis &amp; Feature Importance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143000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4762500" y="1143000"/>
            <a:ext cx="4095900" cy="2286000"/>
          </a:xfrm>
          <a:prstGeom prst="roundRect">
            <a:avLst>
              <a:gd fmla="val 4166" name="adj"/>
            </a:avLst>
          </a:prstGeom>
          <a:solidFill>
            <a:srgbClr val="FFFFFF"/>
          </a:solidFill>
          <a:ln cap="flat" cmpd="sng" w="9525">
            <a:solidFill>
              <a:srgbClr val="E9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4905375" y="1285875"/>
            <a:ext cx="38100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SHAP Reveals</a:t>
            </a:r>
            <a:endParaRPr b="1" sz="16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ExamScore</a:t>
            </a: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dominant predictor — low scores strongly push toward 'slow learner'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AssignmentCompletion</a:t>
            </a: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2nd strongest signal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Demographics (Gender, Age) → near-zero contribution — model is fair</a:t>
            </a:r>
            <a:endParaRPr b="0" sz="1100">
              <a:solidFill>
                <a:srgbClr val="27AE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Stress, motivation, tech access → essentially noise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762500" y="3619500"/>
            <a:ext cx="4095900" cy="1905000"/>
          </a:xfrm>
          <a:prstGeom prst="roundRect">
            <a:avLst>
              <a:gd fmla="val 5000" name="adj"/>
            </a:avLst>
          </a:prstGeom>
          <a:solidFill>
            <a:srgbClr val="EBF5FB"/>
          </a:solidFill>
          <a:ln cap="flat" cmpd="sng" w="9525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4905375" y="3762375"/>
            <a:ext cx="38100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Student Ravi</a:t>
            </a:r>
            <a:endParaRPr b="1" sz="14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avg = 44/100 → SHAP +0.38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Homework = 58% → SHAP +0.21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Counselor insight: content-understanding problem, not attendance or motivation issue</a:t>
            </a:r>
            <a:endParaRPr b="1" sz="11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85750" y="5619750"/>
            <a:ext cx="8572500" cy="7620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00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285750" y="561975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values provide local explainability, revealing why individual students are flagged as slow learners</a:t>
            </a:r>
            <a:endParaRPr b="1" sz="14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>
            <p:ph idx="1" type="subTitle"/>
          </p:nvPr>
        </p:nvSpPr>
        <p:spPr>
          <a:xfrm>
            <a:off x="0" y="0"/>
            <a:ext cx="27192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52875" y="17225"/>
            <a:ext cx="647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Ablation Study: What Data Do You Really Need?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5976675" y="1097280"/>
            <a:ext cx="2926200" cy="2560200"/>
          </a:xfrm>
          <a:prstGeom prst="roundRect">
            <a:avLst>
              <a:gd fmla="val 16667" name="adj"/>
            </a:avLst>
          </a:prstGeom>
          <a:solidFill>
            <a:srgbClr val="EBF5FB"/>
          </a:solidFill>
          <a:ln cap="flat" cmpd="sng" w="9525">
            <a:solidFill>
              <a:srgbClr val="2980B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2 columns achieve the SAME perfect result as all 15!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BC9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ExamScore + AssignmentCompletion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Removing them is the ONLY thing that drops F1 (to 0.823)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274320" y="493776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working early-warning system needs nothing more than the two numbers already in every gradebook.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>
            <p:ph idx="1" type="subTitle"/>
          </p:nvPr>
        </p:nvSpPr>
        <p:spPr>
          <a:xfrm>
            <a:off x="0" y="0"/>
            <a:ext cx="33090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285750" y="952500"/>
            <a:ext cx="8572500" cy="1905000"/>
            <a:chOff x="285750" y="952500"/>
            <a:chExt cx="8572500" cy="1905000"/>
          </a:xfrm>
        </p:grpSpPr>
        <p:sp>
          <p:nvSpPr>
            <p:cNvPr id="159" name="Google Shape;159;p15"/>
            <p:cNvSpPr/>
            <p:nvPr/>
          </p:nvSpPr>
          <p:spPr>
            <a:xfrm>
              <a:off x="285750" y="952500"/>
              <a:ext cx="85725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476250" y="1047750"/>
              <a:ext cx="8191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of 6 classifiers achieved perfect test-set separation on 14,003 student records.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 identified ExamScore and AssignmentCompletion as the only features that matter.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Ablation confirmed: just 2 columns replicate the full 15-column pipeline's performance.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Decision Tree recommended: 4ms training, perfect accuracy, fully interpretable.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is algorithmically fair — Gender and Age have near-zero influence.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285750" y="3048000"/>
            <a:ext cx="4191000" cy="2286000"/>
            <a:chOff x="285750" y="3048000"/>
            <a:chExt cx="4191000" cy="2286000"/>
          </a:xfrm>
        </p:grpSpPr>
        <p:sp>
          <p:nvSpPr>
            <p:cNvPr id="162" name="Google Shape;162;p15"/>
            <p:cNvSpPr/>
            <p:nvPr/>
          </p:nvSpPr>
          <p:spPr>
            <a:xfrm>
              <a:off x="285750" y="3048000"/>
              <a:ext cx="4191000" cy="2286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476250" y="3238500"/>
              <a:ext cx="3810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Limitations</a:t>
              </a:r>
              <a:endParaRPr b="1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Single dataset source — generalizability to other institutions unknown.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missing values — unrealistic for real-world gradebooks.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Binary framing erases spectrum between 'slightly behind' and 'completely lost'.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4667250" y="3048000"/>
            <a:ext cx="4191000" cy="2286000"/>
            <a:chOff x="4667250" y="3048000"/>
            <a:chExt cx="4191000" cy="2286000"/>
          </a:xfrm>
        </p:grpSpPr>
        <p:sp>
          <p:nvSpPr>
            <p:cNvPr id="165" name="Google Shape;165;p15"/>
            <p:cNvSpPr/>
            <p:nvPr/>
          </p:nvSpPr>
          <p:spPr>
            <a:xfrm>
              <a:off x="4667250" y="3048000"/>
              <a:ext cx="4191000" cy="2286000"/>
            </a:xfrm>
            <a:prstGeom prst="roundRect">
              <a:avLst>
                <a:gd fmla="val 6250" name="adj"/>
              </a:avLst>
            </a:prstGeom>
            <a:solidFill>
              <a:srgbClr val="EBF5FB"/>
            </a:solidFill>
            <a:ln cap="flat" cmpd="sng" w="9525">
              <a:solidFill>
                <a:srgbClr val="AED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4857750" y="3238500"/>
              <a:ext cx="3810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Scope</a:t>
              </a:r>
              <a:endParaRPr b="1" sz="18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Temporal prediction — flag students at 25%, 50%, 75% of course completion.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Multi-institutional validation across diverse universities and curricula.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Incorporate qualitative signals — teacher notes, peer observations, LMS patterns.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7" name="Google Shape;167;p15"/>
          <p:cNvSpPr txBox="1"/>
          <p:nvPr/>
        </p:nvSpPr>
        <p:spPr>
          <a:xfrm>
            <a:off x="285750" y="190500"/>
            <a:ext cx="8572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8" name="Google Shape;168;p15"/>
          <p:cNvGrpSpPr/>
          <p:nvPr/>
        </p:nvGrpSpPr>
        <p:grpSpPr>
          <a:xfrm>
            <a:off x="285750" y="5630333"/>
            <a:ext cx="8572500" cy="571500"/>
            <a:chOff x="285750" y="5524500"/>
            <a:chExt cx="8572500" cy="571500"/>
          </a:xfrm>
        </p:grpSpPr>
        <p:sp>
          <p:nvSpPr>
            <p:cNvPr id="169" name="Google Shape;169;p15"/>
            <p:cNvSpPr/>
            <p:nvPr/>
          </p:nvSpPr>
          <p:spPr>
            <a:xfrm>
              <a:off x="285750" y="5524500"/>
              <a:ext cx="8572500" cy="571500"/>
            </a:xfrm>
            <a:prstGeom prst="roundRect">
              <a:avLst>
                <a:gd fmla="val 16666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285750" y="552450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Developing a robust, fair, and efficient early-warning system for identifying at-risk students.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>
            <p:ph idx="1" type="subTitle"/>
          </p:nvPr>
        </p:nvSpPr>
        <p:spPr>
          <a:xfrm>
            <a:off x="0" y="549369"/>
            <a:ext cx="1627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164000" y="174725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64008" y="1308214"/>
            <a:ext cx="88386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S. K. Malik, "Slow learners: Their psychology and educational programmes," Int. J. Educ. Psychol. Res., 2012.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C. Romero &amp; S. Ventura, "EDM and learning analytics: An updated survey," WIREs, 2020.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C. Romero &amp; S. Ventura, "EDM: A review of the state of the art," IEEE Trans., 2010.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M. Hussain et al., "Student engagement predictions in e-learning," Comput. Intell. Neurosci., 2018.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H. Waheed et al., "Predicting academic performance using deep learning," Comput. Hum. Behav., 2020.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P. Kaur et al., "Classification to predict slow learners in education," Procedia CS, 2015.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A. Shamim, "Student performance and learning style dataset," Kaggle, 2024.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M. Adnan et al., "Predicting at-risk students at different course percentages," IEEE Access, 2021.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[18] S. M. Lundberg &amp; S.-I. Lee, "A unified approach to interpreting model predictions," NeurIPS, 2017.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297577" y="4846320"/>
            <a:ext cx="67055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297577" y="5486400"/>
            <a:ext cx="6705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Bahaar Sharma  |  2210990209  |  bahaar209.be22@chitkara.edu.in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